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62" r:id="rId3"/>
    <p:sldId id="257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6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7095FA-40B2-4BB7-BC72-D3A71383E3DD}" type="datetimeFigureOut">
              <a:rPr lang="en-RW" smtClean="0"/>
              <a:t>21/01/2026</a:t>
            </a:fld>
            <a:endParaRPr lang="en-R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6662A0-F468-4F97-99D3-50FE8E7C5F5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777464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project focuses on building an intelligent loan repayment prediction system using machine learning and web technologies.</a:t>
            </a:r>
            <a:endParaRPr lang="en-RW" dirty="0"/>
          </a:p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662A0-F468-4F97-99D3-50FE8E7C5F53}" type="slidenum">
              <a:rPr lang="en-RW" smtClean="0"/>
              <a:t>1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419624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Manual loan assessment is inefficient and risky. This motivates the need for an automated, data-driven prediction system.</a:t>
            </a:r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662A0-F468-4F97-99D3-50FE8E7C5F53}" type="slidenum">
              <a:rPr lang="en-RW" smtClean="0"/>
              <a:t>3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215217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Random Forest was chosen for its high accuracy, and Flask was used to deploy the system.</a:t>
            </a:r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662A0-F468-4F97-99D3-50FE8E7C5F53}" type="slidenum">
              <a:rPr lang="en-RW" smtClean="0"/>
              <a:t>4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474661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workflow ensures accurate, automated, and real-time loan repayment predictions.</a:t>
            </a:r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662A0-F468-4F97-99D3-50FE8E7C5F53}" type="slidenum">
              <a:rPr lang="en-RW" smtClean="0"/>
              <a:t>5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434809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38977-DC80-DFC9-226B-025EDAE1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734D1-ADA2-7BE0-8852-E489E3CF8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458D1-1BB0-68C4-9AD3-6BBAB0CE8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workflow ensures accurate, automated, and real-time loan repayment predictions.</a:t>
            </a:r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1A7A9-CB93-3609-ECD6-5E1014577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662A0-F468-4F97-99D3-50FE8E7C5F53}" type="slidenum">
              <a:rPr lang="en-RW" smtClean="0"/>
              <a:t>6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274709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B1BAA-86D8-E72D-BA40-226093C22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5C8CB5-E79F-C425-3DF0-0AEBC8888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71716-8022-BEE5-D761-CAC2E2486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workflow ensures accurate, automated, and real-time loan repayment predictions.</a:t>
            </a:r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AFECC-E465-6E74-170E-84C2A033D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662A0-F468-4F97-99D3-50FE8E7C5F53}" type="slidenum">
              <a:rPr lang="en-RW" smtClean="0"/>
              <a:t>7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891213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1098A-D30E-63EF-60DD-3F382A521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736F7-D06D-AFE0-9DE5-384477C88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EF8D3-A3DB-6954-B716-4FF5031A1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workflow ensures accurate, automated, and real-time loan repayment predictions.</a:t>
            </a:r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591E6-C8FA-11C9-D0FE-41D673818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662A0-F468-4F97-99D3-50FE8E7C5F53}" type="slidenum">
              <a:rPr lang="en-RW" smtClean="0"/>
              <a:t>8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816526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EBAB0-E39E-5206-1170-70C392DA0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3021E-C46B-CAA7-43A9-6C32CE6E8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0ED158-C7B3-9C7A-088E-2F34B4640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workflow ensures accurate, automated, and real-time loan repayment predictions.</a:t>
            </a:r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C9B78-E825-FA3B-FBAD-A1543CFBD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662A0-F468-4F97-99D3-50FE8E7C5F53}" type="slidenum">
              <a:rPr lang="en-RW" smtClean="0"/>
              <a:t>9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8674404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D1C00-6109-C29E-61FB-1D837632C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11D75-42BE-819C-034B-DC40A6640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4BD49-863D-A434-8AFD-96D874E64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workflow ensures accurate, automated, and real-time loan repayment predictions.</a:t>
            </a:r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1E851-7DF1-3C64-2597-B7AF9009E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662A0-F468-4F97-99D3-50FE8E7C5F53}" type="slidenum">
              <a:rPr lang="en-RW" smtClean="0"/>
              <a:t>10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603977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78767-3DDC-76D1-B4CE-F017CB77E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A54B6-90EB-3D76-3070-764786BAD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5E8703-CAF3-C35E-5A0B-BED596316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workflow ensures accurate, automated, and real-time loan repayment predictions.</a:t>
            </a:r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357D1-2D7E-1697-951B-E2E0691FF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662A0-F468-4F97-99D3-50FE8E7C5F53}" type="slidenum">
              <a:rPr lang="en-RW" smtClean="0"/>
              <a:t>11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675936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46784-E63B-5A27-DBBE-EF4238F05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ED291-2F6A-E037-C0E1-CA58126C6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6E3BC-1167-1D4A-7F3D-15D68D647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workflow ensures accurate, automated, and real-time loan repayment predictions.</a:t>
            </a:r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AA11A-9AE2-68CA-A367-CA3564E93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662A0-F468-4F97-99D3-50FE8E7C5F53}" type="slidenum">
              <a:rPr lang="en-RW" smtClean="0"/>
              <a:t>12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53522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225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049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472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3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61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088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50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40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480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48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438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RW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51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6138081" cy="2541431"/>
          </a:xfrm>
        </p:spPr>
        <p:txBody>
          <a:bodyPr>
            <a:normAutofit/>
          </a:bodyPr>
          <a:lstStyle/>
          <a:p>
            <a:pPr algn="ctr"/>
            <a:r>
              <a:rPr sz="3200" dirty="0"/>
              <a:t>Loan Repayment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8" y="4508826"/>
            <a:ext cx="5618515" cy="977621"/>
          </a:xfrm>
        </p:spPr>
        <p:txBody>
          <a:bodyPr>
            <a:normAutofit/>
          </a:bodyPr>
          <a:lstStyle/>
          <a:p>
            <a:pPr algn="ctr"/>
            <a:r>
              <a:rPr b="1" dirty="0"/>
              <a:t>Presented by: </a:t>
            </a:r>
            <a:r>
              <a:rPr lang="en-US" b="1" dirty="0"/>
              <a:t>Group  six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C6379-08BE-C7CD-E090-ABC5AEE9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6 Members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20935-1869-F3D8-E20B-A6753E779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UMURAZA Angelique</a:t>
            </a:r>
          </a:p>
          <a:p>
            <a:pPr marL="0" indent="0">
              <a:buNone/>
            </a:pPr>
            <a:r>
              <a:rPr lang="en-US" dirty="0"/>
              <a:t>2. TUYISENGE Ephrem</a:t>
            </a:r>
          </a:p>
          <a:p>
            <a:pPr marL="0" indent="0">
              <a:buNone/>
            </a:pPr>
            <a:r>
              <a:rPr lang="en-US" dirty="0"/>
              <a:t>3. ISHIMWE Sandrine</a:t>
            </a:r>
          </a:p>
          <a:p>
            <a:pPr marL="0" indent="0">
              <a:buNone/>
            </a:pPr>
            <a:r>
              <a:rPr lang="en-US" dirty="0"/>
              <a:t>4. NDAHIMANA Raphael</a:t>
            </a:r>
          </a:p>
          <a:p>
            <a:pPr marL="0" indent="0">
              <a:buNone/>
            </a:pPr>
            <a:r>
              <a:rPr lang="en-US" dirty="0"/>
              <a:t>5. TURAJYISIYONI Jean Marie Vianny</a:t>
            </a:r>
          </a:p>
        </p:txBody>
      </p:sp>
    </p:spTree>
    <p:extLst>
      <p:ext uri="{BB962C8B-B14F-4D97-AF65-F5344CB8AC3E}">
        <p14:creationId xmlns:p14="http://schemas.microsoft.com/office/powerpoint/2010/main" val="756982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/>
              <a:t>Problem Statement:</a:t>
            </a:r>
            <a:endParaRPr lang="en-GB" dirty="0"/>
          </a:p>
          <a:p>
            <a:r>
              <a:rPr lang="en-GB" dirty="0"/>
              <a:t>Banks and financial institutions face risk of loan defaults.</a:t>
            </a:r>
          </a:p>
          <a:p>
            <a:r>
              <a:rPr lang="en-GB" dirty="0"/>
              <a:t>Manual assessment of borrowers is time-consuming and prone to errors.</a:t>
            </a:r>
          </a:p>
          <a:p>
            <a:pPr marL="0" indent="0">
              <a:buNone/>
            </a:pPr>
            <a:r>
              <a:rPr lang="en-GB" b="1" dirty="0"/>
              <a:t>Data source</a:t>
            </a:r>
          </a:p>
          <a:p>
            <a:r>
              <a:rPr lang="en-GB" dirty="0"/>
              <a:t>Kaggle</a:t>
            </a:r>
          </a:p>
          <a:p>
            <a:pPr marL="0" indent="0">
              <a:buNone/>
            </a:pPr>
            <a:r>
              <a:rPr lang="en-GB" b="1" dirty="0"/>
              <a:t>Objective:</a:t>
            </a:r>
            <a:endParaRPr lang="en-GB" dirty="0"/>
          </a:p>
          <a:p>
            <a:r>
              <a:rPr lang="en-GB" dirty="0"/>
              <a:t>Develop a machine learning-based system to predict if a loan will be repaid.</a:t>
            </a:r>
          </a:p>
          <a:p>
            <a:r>
              <a:rPr lang="en-GB" dirty="0"/>
              <a:t>Provide probability scores to support informed decision-making.</a:t>
            </a:r>
          </a:p>
          <a:p>
            <a:r>
              <a:rPr lang="en-GB" dirty="0"/>
              <a:t>Automate and streamline the loan approval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Tools, Technologies &amp; Features</a:t>
            </a:r>
            <a:r>
              <a:rPr lang="en-US" dirty="0"/>
              <a:t> used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Programming Language: </a:t>
            </a:r>
            <a:r>
              <a:rPr lang="en-US" dirty="0"/>
              <a:t> </a:t>
            </a:r>
            <a:r>
              <a:rPr dirty="0"/>
              <a:t>Python</a:t>
            </a:r>
          </a:p>
          <a:p>
            <a:r>
              <a:rPr dirty="0"/>
              <a:t>Machine Learning: </a:t>
            </a:r>
            <a:r>
              <a:rPr lang="en-US" dirty="0"/>
              <a:t> </a:t>
            </a:r>
            <a:r>
              <a:rPr dirty="0"/>
              <a:t>Scikit-learn (Random Forest Classifier)</a:t>
            </a:r>
          </a:p>
          <a:p>
            <a:r>
              <a:rPr dirty="0"/>
              <a:t>Web Framework: </a:t>
            </a:r>
            <a:r>
              <a:rPr lang="en-US" dirty="0"/>
              <a:t> </a:t>
            </a:r>
            <a:r>
              <a:rPr dirty="0"/>
              <a:t>Flask (Frontend &amp; Backend)</a:t>
            </a:r>
          </a:p>
          <a:p>
            <a:pPr marL="0" indent="0">
              <a:buNone/>
            </a:pPr>
            <a:r>
              <a:rPr b="1" dirty="0"/>
              <a:t>Features:</a:t>
            </a:r>
          </a:p>
          <a:p>
            <a:r>
              <a:rPr dirty="0"/>
              <a:t>  Data preprocessing &amp; validation</a:t>
            </a:r>
          </a:p>
          <a:p>
            <a:r>
              <a:rPr dirty="0"/>
              <a:t>  Probability-based prediction</a:t>
            </a:r>
          </a:p>
          <a:p>
            <a:r>
              <a:rPr dirty="0"/>
              <a:t>  </a:t>
            </a:r>
            <a:r>
              <a:rPr lang="en-US" dirty="0"/>
              <a:t>95</a:t>
            </a:r>
            <a:r>
              <a:rPr dirty="0"/>
              <a:t>% confidence threshold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521"/>
            <a:ext cx="6571343" cy="689000"/>
          </a:xfrm>
        </p:spPr>
        <p:txBody>
          <a:bodyPr/>
          <a:lstStyle/>
          <a:p>
            <a:r>
              <a:rPr dirty="0"/>
              <a:t>System Architecture &amp; API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0068BD3-4E7B-6658-5030-0245311EE4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2721" y="1962390"/>
            <a:ext cx="879856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RW" altLang="en-R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&amp; Model Training:</a:t>
            </a:r>
            <a:r>
              <a:rPr kumimoji="0" lang="en-RW" altLang="en-R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Raw data is pre</a:t>
            </a:r>
            <a:r>
              <a:rPr kumimoji="0" lang="en-US" altLang="en-R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n-RW" altLang="en-R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processed</a:t>
            </a:r>
            <a:r>
              <a:rPr kumimoji="0" lang="en-US" altLang="en-R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RW" altLang="en-R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n-US" altLang="en-RW" sz="1800" dirty="0">
                <a:latin typeface="Arial" panose="020B0604020202020204" pitchFamily="34" charset="0"/>
              </a:rPr>
              <a:t>3</a:t>
            </a:r>
            <a:r>
              <a:rPr kumimoji="0" lang="en-RW" altLang="en-R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ML models are trained. The best-performing model</a:t>
            </a:r>
            <a:r>
              <a:rPr lang="en-US" altLang="en-RW" sz="1800" dirty="0">
                <a:latin typeface="Arial" panose="020B0604020202020204" pitchFamily="34" charset="0"/>
              </a:rPr>
              <a:t> was </a:t>
            </a:r>
            <a:r>
              <a:rPr kumimoji="0" lang="en-RW" altLang="en-R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selected.</a:t>
            </a:r>
            <a:endParaRPr kumimoji="0" lang="en-US" altLang="en-R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RW" altLang="en-R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RW" altLang="en-R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API:</a:t>
            </a:r>
            <a:r>
              <a:rPr kumimoji="0" lang="en-RW" altLang="en-R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Flask API loads the trained model, processes user input, and generates predictions.</a:t>
            </a:r>
            <a:endParaRPr kumimoji="0" lang="en-US" altLang="en-R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RW" altLang="en-R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RW" altLang="en-R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Interaction:</a:t>
            </a:r>
            <a:r>
              <a:rPr kumimoji="0" lang="en-RW" altLang="en-R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submit input through the frontend,</a:t>
            </a:r>
            <a:r>
              <a:rPr lang="en-US" altLang="en-RW" sz="1800" dirty="0">
                <a:latin typeface="Arial" panose="020B0604020202020204" pitchFamily="34" charset="0"/>
              </a:rPr>
              <a:t> </a:t>
            </a:r>
            <a:r>
              <a:rPr kumimoji="0" lang="en-RW" altLang="en-R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receive loan repayment decisions and probability scores.</a:t>
            </a:r>
            <a:endParaRPr kumimoji="0" lang="en-US" altLang="en-R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RW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RW" altLang="en-R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836D4-C3DA-9905-DF13-59DB3AD0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16521-101E-BBA4-F57A-325D19755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04521"/>
            <a:ext cx="6571343" cy="689000"/>
          </a:xfrm>
        </p:spPr>
        <p:txBody>
          <a:bodyPr/>
          <a:lstStyle/>
          <a:p>
            <a:r>
              <a:rPr lang="en-US" dirty="0"/>
              <a:t>KEY FEATURES USED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9FEA94-B80E-12D7-D805-C457D4028C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3921" y="1936459"/>
            <a:ext cx="7924799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RW" altLang="en-R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R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 &amp; demographic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R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Gender, marital status, education level, employment status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R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indicators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R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Annual income, loan amount, interest rate, loan term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R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Credit &amp; risk metrics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R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Credit score, debt-to-income ratio, number of credit lines</a:t>
            </a:r>
            <a:endParaRPr kumimoji="0" lang="en-RW" altLang="en-R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RW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RW" altLang="en-R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703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F76C9-D420-60F8-E321-4E041AC43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8182B-BD5B-6CE1-DC94-1C144DB43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04521"/>
            <a:ext cx="6571343" cy="689000"/>
          </a:xfrm>
        </p:spPr>
        <p:txBody>
          <a:bodyPr/>
          <a:lstStyle/>
          <a:p>
            <a:r>
              <a:rPr lang="en-US" dirty="0"/>
              <a:t>Data Preprocessing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5FF67C1-1D06-AF7D-B3F3-79B4566834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3921" y="2067088"/>
            <a:ext cx="7924799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RW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RW" sz="1800" dirty="0">
                <a:latin typeface="Arial" panose="020B0604020202020204" pitchFamily="34" charset="0"/>
              </a:rPr>
              <a:t>1. Handled </a:t>
            </a:r>
            <a:r>
              <a:rPr lang="en-US" altLang="en-RW" sz="1800" b="1" dirty="0">
                <a:latin typeface="Arial" panose="020B0604020202020204" pitchFamily="34" charset="0"/>
              </a:rPr>
              <a:t>categorical variables </a:t>
            </a:r>
            <a:r>
              <a:rPr lang="en-US" altLang="en-RW" sz="1800" dirty="0">
                <a:latin typeface="Arial" panose="020B0604020202020204" pitchFamily="34" charset="0"/>
              </a:rPr>
              <a:t>using encoding techniques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RW" sz="1800" b="1" dirty="0">
                <a:latin typeface="Arial" panose="020B0604020202020204" pitchFamily="34" charset="0"/>
              </a:rPr>
              <a:t>2. </a:t>
            </a:r>
            <a:r>
              <a:rPr lang="en-US" altLang="en-RW" sz="1800" dirty="0">
                <a:latin typeface="Arial" panose="020B0604020202020204" pitchFamily="34" charset="0"/>
              </a:rPr>
              <a:t>Separated numerical and categorical features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RW" sz="1800" b="1" dirty="0">
                <a:latin typeface="Arial" panose="020B0604020202020204" pitchFamily="34" charset="0"/>
              </a:rPr>
              <a:t>3. </a:t>
            </a:r>
            <a:r>
              <a:rPr lang="en-US" altLang="en-RW" sz="1800" dirty="0">
                <a:latin typeface="Arial" panose="020B0604020202020204" pitchFamily="34" charset="0"/>
              </a:rPr>
              <a:t>Performed a </a:t>
            </a:r>
            <a:r>
              <a:rPr lang="en-US" altLang="en-RW" sz="1800" b="1" dirty="0">
                <a:latin typeface="Arial" panose="020B0604020202020204" pitchFamily="34" charset="0"/>
              </a:rPr>
              <a:t>train-test split </a:t>
            </a:r>
            <a:r>
              <a:rPr lang="en-US" altLang="en-RW" sz="1800" dirty="0">
                <a:latin typeface="Arial" panose="020B0604020202020204" pitchFamily="34" charset="0"/>
              </a:rPr>
              <a:t>for the model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RW" sz="1800" dirty="0">
                <a:latin typeface="Arial" panose="020B0604020202020204" pitchFamily="34" charset="0"/>
              </a:rPr>
              <a:t>4. Evaluation ensured data were compatible with </a:t>
            </a:r>
            <a:r>
              <a:rPr lang="en-US" altLang="en-RW" sz="1800" b="1" dirty="0">
                <a:latin typeface="Arial" panose="020B0604020202020204" pitchFamily="34" charset="0"/>
              </a:rPr>
              <a:t>multiple ML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RW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RW" altLang="en-R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671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E0280-D42B-6D97-7066-25D01A6E4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99CB1-9693-16D0-DBF1-A13DDE7C2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04521"/>
            <a:ext cx="6571343" cy="689000"/>
          </a:xfrm>
        </p:spPr>
        <p:txBody>
          <a:bodyPr/>
          <a:lstStyle/>
          <a:p>
            <a:r>
              <a:rPr lang="en-US" dirty="0"/>
              <a:t>Models implemented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34EC25-70F4-4B0F-4CDD-2157845A7A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3921" y="2205588"/>
            <a:ext cx="7924799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RW" sz="1800" b="1" dirty="0">
                <a:latin typeface="Arial" panose="020B0604020202020204" pitchFamily="34" charset="0"/>
              </a:rPr>
              <a:t>Trained and evaluated multiple machine learning models: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RW" sz="1800" dirty="0">
                <a:latin typeface="Arial" panose="020B0604020202020204" pitchFamily="34" charset="0"/>
              </a:rPr>
              <a:t>1.1 Logistic Regression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RW" sz="1800" dirty="0">
                <a:latin typeface="Arial" panose="020B0604020202020204" pitchFamily="34" charset="0"/>
              </a:rPr>
              <a:t>1.2 Random Forest Classifier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RW" sz="1800" dirty="0">
                <a:latin typeface="Arial" panose="020B0604020202020204" pitchFamily="34" charset="0"/>
              </a:rPr>
              <a:t>1.3 Gradient Boosting Classifier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RW" sz="1800" b="1" dirty="0">
                <a:latin typeface="Arial" panose="020B0604020202020204" pitchFamily="34" charset="0"/>
              </a:rPr>
              <a:t>Compared models based on performance metric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RW" altLang="en-R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018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C6963-18C5-8720-CE78-C829F7B9D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2290C-0248-9245-DE8D-C2BF40992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04521"/>
            <a:ext cx="6571343" cy="689000"/>
          </a:xfrm>
        </p:spPr>
        <p:txBody>
          <a:bodyPr/>
          <a:lstStyle/>
          <a:p>
            <a:r>
              <a:rPr lang="en-US" dirty="0"/>
              <a:t>Model evaluation</a:t>
            </a:r>
            <a:endParaRPr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E4208F5-5541-9A6B-BBBE-CA480A2BA6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4238" y="2274839"/>
            <a:ext cx="679672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metrics used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F1-score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best-performing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deployment</a:t>
            </a:r>
          </a:p>
        </p:txBody>
      </p:sp>
    </p:spTree>
    <p:extLst>
      <p:ext uri="{BB962C8B-B14F-4D97-AF65-F5344CB8AC3E}">
        <p14:creationId xmlns:p14="http://schemas.microsoft.com/office/powerpoint/2010/main" val="1031630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7DF9-D09A-6D94-FAA8-D5BCBE7DE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9A8AF-BCC2-EBDB-6490-CF496F150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04521"/>
            <a:ext cx="6571343" cy="689000"/>
          </a:xfrm>
        </p:spPr>
        <p:txBody>
          <a:bodyPr/>
          <a:lstStyle/>
          <a:p>
            <a:r>
              <a:rPr lang="en-US" dirty="0"/>
              <a:t>Model Deployment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BF02F0-2F8C-A52F-4447-3CDF523211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5678" y="2314417"/>
            <a:ext cx="449674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model saved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Joblib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reuse without retraining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for real-time or batch prediction</a:t>
            </a:r>
          </a:p>
        </p:txBody>
      </p:sp>
    </p:spTree>
    <p:extLst>
      <p:ext uri="{BB962C8B-B14F-4D97-AF65-F5344CB8AC3E}">
        <p14:creationId xmlns:p14="http://schemas.microsoft.com/office/powerpoint/2010/main" val="825164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CC370-F865-7C69-840B-C4EC5455E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5C7C0-52EE-C334-3DF7-0BE20EB52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04521"/>
            <a:ext cx="6571343" cy="689000"/>
          </a:xfrm>
        </p:spPr>
        <p:txBody>
          <a:bodyPr/>
          <a:lstStyle/>
          <a:p>
            <a:r>
              <a:rPr lang="en-US" dirty="0"/>
              <a:t>Probability logic </a:t>
            </a:r>
            <a:endParaRPr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20123BF-4F9B-441B-B505-9EEF2608B3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9675" y="2211043"/>
            <a:ext cx="721296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outputs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probability of loan repayment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confidence threshold (95%)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≥ 95% →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Paying 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&lt; 95% →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Paying 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reduce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risk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approving only high-confidence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applicants</a:t>
            </a:r>
          </a:p>
        </p:txBody>
      </p:sp>
    </p:spTree>
    <p:extLst>
      <p:ext uri="{BB962C8B-B14F-4D97-AF65-F5344CB8AC3E}">
        <p14:creationId xmlns:p14="http://schemas.microsoft.com/office/powerpoint/2010/main" val="713179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7CDCD-3840-A414-295A-2D7B66EA9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B779-ECDC-7A7E-F4CF-F9249B9BC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04521"/>
            <a:ext cx="6571343" cy="689000"/>
          </a:xfrm>
        </p:spPr>
        <p:txBody>
          <a:bodyPr/>
          <a:lstStyle/>
          <a:p>
            <a:r>
              <a:rPr lang="en-US" dirty="0"/>
              <a:t>Business impact</a:t>
            </a:r>
            <a:endParaRPr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29B7412-6552-540C-CEBF-E09694A997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5517" y="2026378"/>
            <a:ext cx="721296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Improves loan approval decision quality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Reduces default risk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data-driven credit assessment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Scalable and reusable for future applicants</a:t>
            </a:r>
          </a:p>
        </p:txBody>
      </p:sp>
    </p:spTree>
    <p:extLst>
      <p:ext uri="{BB962C8B-B14F-4D97-AF65-F5344CB8AC3E}">
        <p14:creationId xmlns:p14="http://schemas.microsoft.com/office/powerpoint/2010/main" val="4023916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66F5D-8F8C-000D-3237-B2B0986EB6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END OF PRESENTATION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RW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33FD50-420E-71DC-FDD0-8E76358BD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6319" y="3963825"/>
            <a:ext cx="5618515" cy="977621"/>
          </a:xfrm>
        </p:spPr>
        <p:txBody>
          <a:bodyPr/>
          <a:lstStyle/>
          <a:p>
            <a:pPr algn="ctr"/>
            <a:r>
              <a:rPr lang="en-US" dirty="0"/>
              <a:t>Any Question??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407511013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506</TotalTime>
  <Words>591</Words>
  <Application>Microsoft Office PowerPoint</Application>
  <PresentationFormat>On-screen Show (4:3)</PresentationFormat>
  <Paragraphs>110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Gill Sans MT</vt:lpstr>
      <vt:lpstr>Gallery</vt:lpstr>
      <vt:lpstr>Loan Repayment Prediction System</vt:lpstr>
      <vt:lpstr>Group 6 Members</vt:lpstr>
      <vt:lpstr>Project Overview</vt:lpstr>
      <vt:lpstr>Tools, Technologies &amp; Features used</vt:lpstr>
      <vt:lpstr>System Architecture &amp; API</vt:lpstr>
      <vt:lpstr>KEY FEATURES USED</vt:lpstr>
      <vt:lpstr>Data Preprocessing</vt:lpstr>
      <vt:lpstr>Models implemented</vt:lpstr>
      <vt:lpstr>Model evaluation</vt:lpstr>
      <vt:lpstr>Model Deployment</vt:lpstr>
      <vt:lpstr>Probability logic </vt:lpstr>
      <vt:lpstr>Business impact</vt:lpstr>
      <vt:lpstr>END OF PRESENTATION 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umuraza Angelique</dc:creator>
  <cp:keywords/>
  <dc:description>generated using python-pptx</dc:description>
  <cp:lastModifiedBy>UMURAZA Angelique</cp:lastModifiedBy>
  <cp:revision>19</cp:revision>
  <dcterms:created xsi:type="dcterms:W3CDTF">2013-01-27T09:14:16Z</dcterms:created>
  <dcterms:modified xsi:type="dcterms:W3CDTF">2026-01-21T10:00:34Z</dcterms:modified>
  <cp:category/>
</cp:coreProperties>
</file>