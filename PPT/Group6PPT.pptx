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"/>
  </p:notesMasterIdLst>
  <p:sldIdLst>
    <p:sldId id="256" r:id="rId2"/>
    <p:sldId id="257" r:id="rId3"/>
    <p:sldId id="259" r:id="rId4"/>
    <p:sldId id="260" r:id="rId5"/>
    <p:sldId id="261" r:id="rId6"/>
    <p:sldId id="262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7095FA-40B2-4BB7-BC72-D3A71383E3DD}" type="datetimeFigureOut">
              <a:rPr lang="en-RW" smtClean="0"/>
              <a:t>20/01/2026</a:t>
            </a:fld>
            <a:endParaRPr lang="en-R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6662A0-F468-4F97-99D3-50FE8E7C5F53}" type="slidenum">
              <a:rPr lang="en-RW" smtClean="0"/>
              <a:t>‹#›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1777464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This project focuses on building an intelligent loan repayment prediction system using machine learning and web technologies.</a:t>
            </a:r>
            <a:endParaRPr lang="en-RW" dirty="0"/>
          </a:p>
          <a:p>
            <a:endParaRPr lang="en-RW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6662A0-F468-4F97-99D3-50FE8E7C5F53}" type="slidenum">
              <a:rPr lang="en-RW" smtClean="0"/>
              <a:t>1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24196248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Manual loan assessment is inefficient and risky. This motivates the need for an automated, data-driven prediction system.</a:t>
            </a:r>
            <a:endParaRPr lang="en-RW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6662A0-F468-4F97-99D3-50FE8E7C5F53}" type="slidenum">
              <a:rPr lang="en-RW" smtClean="0"/>
              <a:t>2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1215217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Random Forest was chosen for its high accuracy, and Flask was used to deploy the system.</a:t>
            </a:r>
            <a:endParaRPr lang="en-RW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6662A0-F468-4F97-99D3-50FE8E7C5F53}" type="slidenum">
              <a:rPr lang="en-RW" smtClean="0"/>
              <a:t>3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34746610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This workflow ensures accurate, automated, and real-time loan repayment predictions.</a:t>
            </a:r>
            <a:endParaRPr lang="en-RW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6662A0-F468-4F97-99D3-50FE8E7C5F53}" type="slidenum">
              <a:rPr lang="en-RW" smtClean="0"/>
              <a:t>4</a:t>
            </a:fld>
            <a:endParaRPr lang="en-RW"/>
          </a:p>
        </p:txBody>
      </p:sp>
    </p:spTree>
    <p:extLst>
      <p:ext uri="{BB962C8B-B14F-4D97-AF65-F5344CB8AC3E}">
        <p14:creationId xmlns:p14="http://schemas.microsoft.com/office/powerpoint/2010/main" val="14348093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96319" y="802299"/>
            <a:ext cx="5618515" cy="2541431"/>
          </a:xfrm>
        </p:spPr>
        <p:txBody>
          <a:bodyPr bIns="0"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96319" y="3531205"/>
            <a:ext cx="5618515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96319" y="329308"/>
            <a:ext cx="3086292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4703" y="798973"/>
            <a:ext cx="802005" cy="50357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396319" y="3528542"/>
            <a:ext cx="561851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9225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7049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1756130"/>
            <a:ext cx="5617002" cy="188795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2" y="3806196"/>
            <a:ext cx="5617002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43491" y="3804985"/>
            <a:ext cx="561700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9472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890"/>
            <a:ext cx="6571343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3490" y="2013936"/>
            <a:ext cx="3125871" cy="3437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89182" y="2013936"/>
            <a:ext cx="3125652" cy="3437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5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Connector 35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164"/>
            <a:ext cx="6571344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9550"/>
            <a:ext cx="3125766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3491" y="2824270"/>
            <a:ext cx="3125766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89182" y="2023004"/>
            <a:ext cx="31256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89182" y="2821491"/>
            <a:ext cx="31256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361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088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1503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9042" y="798973"/>
            <a:ext cx="2425950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6656" y="798974"/>
            <a:ext cx="3828178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9042" y="3205492"/>
            <a:ext cx="2427369" cy="2248181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1748" y="3205491"/>
            <a:ext cx="242327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1401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4996501" y="482171"/>
            <a:ext cx="3511387" cy="5149101"/>
            <a:chOff x="6852919" y="583365"/>
            <a:chExt cx="4681849" cy="5181928"/>
          </a:xfrm>
        </p:grpSpPr>
        <p:sp>
          <p:nvSpPr>
            <p:cNvPr id="14" name="Rectangle 13"/>
            <p:cNvSpPr/>
            <p:nvPr/>
          </p:nvSpPr>
          <p:spPr>
            <a:xfrm>
              <a:off x="6852919" y="583365"/>
              <a:ext cx="4681849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Rectangle 14"/>
            <p:cNvSpPr/>
            <p:nvPr/>
          </p:nvSpPr>
          <p:spPr>
            <a:xfrm>
              <a:off x="7273787" y="915806"/>
              <a:ext cx="3844017" cy="4507918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148" y="1129513"/>
            <a:ext cx="3244935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40128" y="1122543"/>
            <a:ext cx="2234998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3492" y="3145992"/>
            <a:ext cx="3240286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36664" y="5469857"/>
            <a:ext cx="3252420" cy="320123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37530" y="318641"/>
            <a:ext cx="3251553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1281" y="3143605"/>
            <a:ext cx="324201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4480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248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18028" y="798974"/>
            <a:ext cx="1103027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3491" y="798974"/>
            <a:ext cx="5301095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6918028" y="798974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04381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015734"/>
            <a:ext cx="9144000" cy="407952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RW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1538" r="12500" b="-1538"/>
          <a:stretch/>
        </p:blipFill>
        <p:spPr>
          <a:xfrm>
            <a:off x="-1" y="6095253"/>
            <a:ext cx="9144001" cy="774727"/>
          </a:xfrm>
          <a:prstGeom prst="rect">
            <a:avLst/>
          </a:prstGeom>
        </p:spPr>
      </p:pic>
      <p:cxnSp>
        <p:nvCxnSpPr>
          <p:cNvPr id="13" name="Straight Connector 12"/>
          <p:cNvCxnSpPr/>
          <p:nvPr/>
        </p:nvCxnSpPr>
        <p:spPr>
          <a:xfrm>
            <a:off x="0" y="6101127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3491" y="804520"/>
            <a:ext cx="6571343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5733"/>
            <a:ext cx="6571343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46542" y="330370"/>
            <a:ext cx="2368292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43491" y="329308"/>
            <a:ext cx="403400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7725" y="798973"/>
            <a:ext cx="795746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511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6858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Loan Repayment Prediction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96318" y="4508826"/>
            <a:ext cx="5618515" cy="977621"/>
          </a:xfrm>
        </p:spPr>
        <p:txBody>
          <a:bodyPr>
            <a:normAutofit/>
          </a:bodyPr>
          <a:lstStyle/>
          <a:p>
            <a:r>
              <a:rPr dirty="0"/>
              <a:t>Presented by: </a:t>
            </a:r>
            <a:r>
              <a:rPr lang="en-US" dirty="0"/>
              <a:t>Group 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GB" b="1" dirty="0"/>
              <a:t>Problem Statement:</a:t>
            </a:r>
            <a:endParaRPr lang="en-GB" dirty="0"/>
          </a:p>
          <a:p>
            <a:r>
              <a:rPr lang="en-GB" dirty="0"/>
              <a:t>Banks and financial institutions face risk of loan defaults.</a:t>
            </a:r>
          </a:p>
          <a:p>
            <a:r>
              <a:rPr lang="en-GB" dirty="0"/>
              <a:t>Manual assessment of borrowers is time-consuming and prone to errors.</a:t>
            </a:r>
          </a:p>
          <a:p>
            <a:pPr marL="0" indent="0">
              <a:buNone/>
            </a:pPr>
            <a:r>
              <a:rPr lang="en-GB" b="1" dirty="0"/>
              <a:t>Objective:</a:t>
            </a:r>
            <a:endParaRPr lang="en-GB" dirty="0"/>
          </a:p>
          <a:p>
            <a:r>
              <a:rPr lang="en-GB" dirty="0"/>
              <a:t>Develop a machine learning-based system to predict if a loan will be repaid.</a:t>
            </a:r>
          </a:p>
          <a:p>
            <a:r>
              <a:rPr lang="en-GB" dirty="0"/>
              <a:t>Provide probability scores to support informed decision-making.</a:t>
            </a:r>
          </a:p>
          <a:p>
            <a:r>
              <a:rPr lang="en-GB" dirty="0"/>
              <a:t>Automate and streamline the loan approval process.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Tools, Technologies &amp;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Programming Language: Python</a:t>
            </a:r>
          </a:p>
          <a:p>
            <a:r>
              <a:rPr dirty="0"/>
              <a:t>Machine Learning: Scikit-learn (Random Forest Classifier)</a:t>
            </a:r>
          </a:p>
          <a:p>
            <a:r>
              <a:rPr dirty="0"/>
              <a:t>Web Framework: Flask (Frontend &amp; Backend)</a:t>
            </a:r>
          </a:p>
          <a:p>
            <a:pPr marL="0" indent="0">
              <a:buNone/>
            </a:pPr>
            <a:r>
              <a:rPr b="1" dirty="0"/>
              <a:t>Features:</a:t>
            </a:r>
          </a:p>
          <a:p>
            <a:r>
              <a:rPr dirty="0"/>
              <a:t>  Data preprocessing &amp; validation</a:t>
            </a:r>
          </a:p>
          <a:p>
            <a:r>
              <a:rPr dirty="0"/>
              <a:t>  Probability-based prediction</a:t>
            </a:r>
          </a:p>
          <a:p>
            <a:r>
              <a:rPr dirty="0"/>
              <a:t>  70% confidence threshold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&amp; API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0068BD3-4E7B-6658-5030-0245311EE4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37187" y="2160788"/>
            <a:ext cx="6872447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RW" altLang="en-R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&amp; Model Training:</a:t>
            </a:r>
            <a:r>
              <a:rPr kumimoji="0" lang="en-RW" altLang="en-R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Raw data is </a:t>
            </a:r>
            <a:r>
              <a:rPr kumimoji="0" lang="en-RW" altLang="en-RW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preprocessed</a:t>
            </a:r>
            <a:r>
              <a:rPr kumimoji="0" lang="en-RW" altLang="en-R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multiple ML models are trained. The best-performing model is selected.</a:t>
            </a:r>
            <a:endParaRPr kumimoji="0" lang="en-US" altLang="en-R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RW" altLang="en-R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RW" altLang="en-R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 API:</a:t>
            </a:r>
            <a:r>
              <a:rPr kumimoji="0" lang="en-RW" altLang="en-R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Flask API loads the trained model, processes user input, and generates predictions.</a:t>
            </a:r>
            <a:endParaRPr kumimoji="0" lang="en-US" altLang="en-R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RW" altLang="en-R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RW" altLang="en-RW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 Interaction:</a:t>
            </a:r>
            <a:r>
              <a:rPr kumimoji="0" lang="en-RW" altLang="en-R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Users submit input through the frontend,</a:t>
            </a:r>
            <a:r>
              <a:rPr lang="en-US" altLang="en-RW" sz="1800" dirty="0">
                <a:latin typeface="Arial" panose="020B0604020202020204" pitchFamily="34" charset="0"/>
              </a:rPr>
              <a:t> </a:t>
            </a:r>
            <a:r>
              <a:rPr kumimoji="0" lang="en-RW" altLang="en-RW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receive loan repayment decisions and probability scores.</a:t>
            </a:r>
            <a:endParaRPr kumimoji="0" lang="en-US" altLang="en-R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RW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RW" altLang="en-R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66F5D-8F8C-000D-3237-B2B0986EB6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 OF PRESENTATION</a:t>
            </a:r>
            <a:endParaRPr lang="en-RW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33FD50-420E-71DC-FDD0-8E76358BD6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6319" y="3963825"/>
            <a:ext cx="5618515" cy="977621"/>
          </a:xfrm>
        </p:spPr>
        <p:txBody>
          <a:bodyPr/>
          <a:lstStyle/>
          <a:p>
            <a:r>
              <a:rPr lang="en-US" dirty="0"/>
              <a:t>Any Question??</a:t>
            </a:r>
            <a:endParaRPr lang="en-RW" dirty="0"/>
          </a:p>
        </p:txBody>
      </p:sp>
    </p:spTree>
    <p:extLst>
      <p:ext uri="{BB962C8B-B14F-4D97-AF65-F5344CB8AC3E}">
        <p14:creationId xmlns:p14="http://schemas.microsoft.com/office/powerpoint/2010/main" val="4075110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C6379-08BE-C7CD-E090-ABC5AEE9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Members</a:t>
            </a:r>
            <a:endParaRPr lang="en-R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20935-1869-F3D8-E20B-A6753E779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UMURAZA Angelique</a:t>
            </a:r>
          </a:p>
          <a:p>
            <a:pPr marL="0" indent="0">
              <a:buNone/>
            </a:pPr>
            <a:r>
              <a:rPr lang="en-US" dirty="0"/>
              <a:t>TUYISENGE Ephrem</a:t>
            </a:r>
          </a:p>
          <a:p>
            <a:pPr marL="0" indent="0">
              <a:buNone/>
            </a:pPr>
            <a:r>
              <a:rPr lang="en-US" dirty="0"/>
              <a:t>ISHIMWE Sandrine</a:t>
            </a:r>
          </a:p>
          <a:p>
            <a:pPr marL="0" indent="0">
              <a:buNone/>
            </a:pPr>
            <a:r>
              <a:rPr lang="en-US" dirty="0"/>
              <a:t>NDAHIMANA Raphael</a:t>
            </a:r>
          </a:p>
          <a:p>
            <a:pPr marL="0" indent="0">
              <a:buNone/>
            </a:pPr>
            <a:r>
              <a:rPr lang="en-US" dirty="0"/>
              <a:t>TURAJYISIYONI Jean Marie Vianny</a:t>
            </a:r>
          </a:p>
        </p:txBody>
      </p:sp>
    </p:spTree>
    <p:extLst>
      <p:ext uri="{BB962C8B-B14F-4D97-AF65-F5344CB8AC3E}">
        <p14:creationId xmlns:p14="http://schemas.microsoft.com/office/powerpoint/2010/main" val="756982255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399</TotalTime>
  <Words>265</Words>
  <Application>Microsoft Office PowerPoint</Application>
  <PresentationFormat>On-screen Show (4:3)</PresentationFormat>
  <Paragraphs>40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Arial</vt:lpstr>
      <vt:lpstr>Gill Sans MT</vt:lpstr>
      <vt:lpstr>Gallery</vt:lpstr>
      <vt:lpstr>Loan Repayment Prediction System</vt:lpstr>
      <vt:lpstr>Project Overview</vt:lpstr>
      <vt:lpstr>Tools, Technologies &amp; Features</vt:lpstr>
      <vt:lpstr>System Architecture &amp; API</vt:lpstr>
      <vt:lpstr>END OF PRESENTATION</vt:lpstr>
      <vt:lpstr>Group Members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umuraza Angelique</dc:creator>
  <cp:keywords/>
  <dc:description>generated using python-pptx</dc:description>
  <cp:lastModifiedBy>UMURAZA Angelique</cp:lastModifiedBy>
  <cp:revision>5</cp:revision>
  <dcterms:created xsi:type="dcterms:W3CDTF">2013-01-27T09:14:16Z</dcterms:created>
  <dcterms:modified xsi:type="dcterms:W3CDTF">2026-01-20T16:59:53Z</dcterms:modified>
  <cp:category/>
</cp:coreProperties>
</file>